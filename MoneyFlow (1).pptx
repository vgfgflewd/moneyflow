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eist" panose="020B0604020202020204" charset="0"/>
      <p:regular r:id="rId11"/>
    </p:embeddedFont>
    <p:embeddedFont>
      <p:font typeface="Geist Medium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0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22886-71AB-DFB2-55F4-362F08D5A9CD}" v="19" dt="2026-06-06T17:36:55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6601D-16DE-4FB7-8E17-D0DA1F963D05}" type="datetimeFigureOut">
              <a:t>06.06.2026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838B3-BCFF-46E8-B436-655081A0285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2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58814"/>
            <a:ext cx="1006043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MONEYFLOW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818235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Система учета и анализа персональных финансов на базе Python и SQLite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282877"/>
            <a:ext cx="2865862" cy="309860"/>
          </a:xfrm>
          <a:prstGeom prst="roundRect">
            <a:avLst>
              <a:gd name="adj" fmla="val 43921"/>
            </a:avLst>
          </a:prstGeom>
          <a:solidFill>
            <a:srgbClr val="C6D1D6"/>
          </a:solidFill>
          <a:ln/>
        </p:spPr>
      </p:sp>
      <p:sp>
        <p:nvSpPr>
          <p:cNvPr id="5" name="Text 3"/>
          <p:cNvSpPr/>
          <p:nvPr/>
        </p:nvSpPr>
        <p:spPr>
          <a:xfrm>
            <a:off x="774879" y="4339530"/>
            <a:ext cx="3248638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РАЗРАБОТЧИК: ШВЕДОВ ВАЛЕНТИН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21791" y="4276527"/>
            <a:ext cx="1587659" cy="322560"/>
          </a:xfrm>
          <a:prstGeom prst="roundRect">
            <a:avLst>
              <a:gd name="adj" fmla="val 42192"/>
            </a:avLst>
          </a:prstGeom>
          <a:noFill/>
          <a:ln w="6350">
            <a:solidFill>
              <a:srgbClr val="C6D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1545" y="4339530"/>
            <a:ext cx="1957735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ГРУППА: РПО 24/3</a:t>
            </a:r>
            <a:endParaRPr lang="en-US" sz="11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68B8E1-69C3-27FF-50AA-347A5264C971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80419"/>
            <a:ext cx="65839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АКТУАЛЬНОСТЬ ПРОЕКТА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490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44962"/>
            <a:ext cx="5339820" cy="25400"/>
          </a:xfrm>
          <a:prstGeom prst="rect">
            <a:avLst/>
          </a:prstGeom>
          <a:solidFill>
            <a:srgbClr val="2C3A4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49021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ПРОБЛЕМА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98900"/>
            <a:ext cx="53398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Ручной учет ведет к потере контроля над бюджетом. Облачные аналоги небезопасны и требуют платных подписок.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90301" y="30490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3344962"/>
            <a:ext cx="5339919" cy="254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349021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190301" y="3898900"/>
            <a:ext cx="533991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Локальное приложение MoneyFlow обеспечивает 100% приватность данных, работает офлайн и дает мгновенные отчеты.</a:t>
            </a:r>
            <a:endParaRPr lang="en-US" sz="14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C91D288-4D43-4FEB-F18A-6E635EDC04E3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016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СТЕК ТЕХНОЛОГИЙ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68836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Проект построен на трёх ключевых технологиях, обеспечивающих автономность, скорость и надёжность приложения.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3527127"/>
            <a:ext cx="3522277" cy="12306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079" y="374153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PYTHON 3.X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52079" y="4150221"/>
            <a:ext cx="2991867" cy="393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Ядро системы и бизнес-логика быстрой обработки данных.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1960" y="3527127"/>
            <a:ext cx="3522277" cy="12306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7964" y="374153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TKINTER GUI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37964" y="4150221"/>
            <a:ext cx="2991867" cy="393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Построение нативного кроссплатформенного интерфейса.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7844" y="3527127"/>
            <a:ext cx="3522277" cy="12306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3848" y="374153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SQLITE 3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23848" y="4150221"/>
            <a:ext cx="2991867" cy="393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Локальная реляционная БД, встроенная в ядро Python.</a:t>
            </a:r>
            <a:endParaRPr lang="en-US" sz="11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4FEAEC-245A-BCFE-4D97-0BA1DD0504B0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156" y="521097"/>
            <a:ext cx="7888090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БЛОК-СХЕМА АЛГОРИТМА РАБОТЫ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05" y="1341140"/>
            <a:ext cx="9458485" cy="4623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82630" y="2931929"/>
            <a:ext cx="2205076" cy="27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1. ВВОД В GUI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16192" y="1873466"/>
            <a:ext cx="2205075" cy="27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2. ВАЛИДАЦИЯ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903876" y="4049195"/>
            <a:ext cx="2205075" cy="27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3. ЗАПИСЬ В БД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160667" y="5127259"/>
            <a:ext cx="2205075" cy="27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4. ОБНОВЛЕНИЕ UI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1156" y="6131520"/>
            <a:ext cx="11498967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Каждый шаг алгоритма обеспечивает надёжность и целостность данных — от ввода пользователем до отображения результата.</a:t>
            </a:r>
            <a:endParaRPr lang="en-US" sz="13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7AC0A29-5CDE-1E7E-200F-A2D172F5B784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6997"/>
            <a:ext cx="75426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АРХИТЕКТУРА ПРОЕКТА (UML)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11114"/>
            <a:ext cx="5476043" cy="3158629"/>
          </a:xfrm>
          <a:prstGeom prst="roundRect">
            <a:avLst>
              <a:gd name="adj" fmla="val 8617"/>
            </a:avLst>
          </a:prstGeom>
          <a:solidFill>
            <a:srgbClr val="2C3A4C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800126"/>
            <a:ext cx="4179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MONEYFLOWAPP (ИНТЕРФЕЙС)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14357" y="2308027"/>
            <a:ext cx="5098029" cy="623689"/>
          </a:xfrm>
          <a:prstGeom prst="roundRect">
            <a:avLst>
              <a:gd name="adj" fmla="val 27276"/>
            </a:avLst>
          </a:prstGeom>
          <a:solidFill>
            <a:srgbClr val="4B5F7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03364" y="2497038"/>
            <a:ext cx="472001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add_expense()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4357" y="3120727"/>
            <a:ext cx="5098029" cy="623689"/>
          </a:xfrm>
          <a:prstGeom prst="roundRect">
            <a:avLst>
              <a:gd name="adj" fmla="val 27276"/>
            </a:avLst>
          </a:prstGeom>
          <a:solidFill>
            <a:srgbClr val="4B5F7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03364" y="3309739"/>
            <a:ext cx="472001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update_view()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4357" y="3933428"/>
            <a:ext cx="5098029" cy="623689"/>
          </a:xfrm>
          <a:prstGeom prst="roundRect">
            <a:avLst>
              <a:gd name="adj" fmla="val 27276"/>
            </a:avLst>
          </a:prstGeom>
          <a:solidFill>
            <a:srgbClr val="4B5F7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03364" y="4122440"/>
            <a:ext cx="472001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show_total()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1800126"/>
            <a:ext cx="38475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FINANCEDB (БАЗА ДАННЫХ)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332776" y="2308027"/>
            <a:ext cx="5203794" cy="623689"/>
          </a:xfrm>
          <a:prstGeom prst="roundRect">
            <a:avLst>
              <a:gd name="adj" fmla="val 27276"/>
            </a:avLst>
          </a:prstGeom>
          <a:solidFill>
            <a:srgbClr val="2C3A4C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21783" y="2497038"/>
            <a:ext cx="482578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insert_data()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2776" y="3120727"/>
            <a:ext cx="5203794" cy="623689"/>
          </a:xfrm>
          <a:prstGeom prst="roundRect">
            <a:avLst>
              <a:gd name="adj" fmla="val 27276"/>
            </a:avLst>
          </a:prstGeom>
          <a:solidFill>
            <a:srgbClr val="2C3A4C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21783" y="3309739"/>
            <a:ext cx="482578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get_all_records()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2776" y="3933428"/>
            <a:ext cx="5203794" cy="623689"/>
          </a:xfrm>
          <a:prstGeom prst="roundRect">
            <a:avLst>
              <a:gd name="adj" fmla="val 27276"/>
            </a:avLst>
          </a:prstGeom>
          <a:solidFill>
            <a:srgbClr val="2C3A4C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21783" y="4122440"/>
            <a:ext cx="482578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delete_record()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982369"/>
            <a:ext cx="10868745" cy="925909"/>
          </a:xfrm>
          <a:prstGeom prst="roundRect">
            <a:avLst>
              <a:gd name="adj" fmla="val 18373"/>
            </a:avLst>
          </a:prstGeom>
          <a:solidFill>
            <a:srgbClr val="022349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224661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199658"/>
            <a:ext cx="1006549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Связь: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Агрегация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App использует возможности базы данных (FinanceDB), управляя всеми операциями через методы класса.</a:t>
            </a:r>
            <a:endParaRPr lang="en-US" sz="1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53EA81F-5A1D-3F61-8C0B-4D4328C66331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584"/>
            <a:ext cx="658478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СТРУКТУРА БАЗЫ ДАННЫХ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02879"/>
            <a:ext cx="1147833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SQLite-база данных проекта MoneyFlow состоит из двух связанных таблиц с отношением «Один-ко-Многим» (1:N).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022376"/>
            <a:ext cx="10868745" cy="3126978"/>
          </a:xfrm>
          <a:prstGeom prst="roundRect">
            <a:avLst>
              <a:gd name="adj" fmla="val 516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028726"/>
            <a:ext cx="10856046" cy="4448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47505" y="2137370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Таблица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4642" y="2137370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35792" y="2137370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Тип / Роль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49753" y="2137370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Описание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825" y="2473623"/>
            <a:ext cx="10856046" cy="4448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7505" y="2582267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kategorii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4642" y="2582267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35792" y="2582267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INTEGER (PK)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49753" y="2582267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Уникальный идентификатор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825" y="2918520"/>
            <a:ext cx="10856046" cy="4448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7505" y="3027164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kategorii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4642" y="3027164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35792" y="3027164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49753" y="3027164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Название категории расходов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825" y="3363416"/>
            <a:ext cx="10856046" cy="4448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7505" y="3472061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rashodi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4642" y="3472061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35792" y="3472061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INTEGER (PK)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49753" y="3472061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Уникальный идентификатор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825" y="3808313"/>
            <a:ext cx="10856046" cy="4448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47505" y="3916958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rashodi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4642" y="3916958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amount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35792" y="3916958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49753" y="3916958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Сумма расхода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825" y="4253210"/>
            <a:ext cx="10856046" cy="4448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505" y="4361855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rashodi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4642" y="4361855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cat_id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35792" y="4361855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INTEGER (FK)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49753" y="4361855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Ссылка на kategorii.id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7825" y="4698107"/>
            <a:ext cx="10856046" cy="4448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7505" y="4806752"/>
            <a:ext cx="2961407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rashodi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64642" y="4806752"/>
            <a:ext cx="241542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35792" y="4806752"/>
            <a:ext cx="295823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49753" y="4806752"/>
            <a:ext cx="3504219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Дата записи расхода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61475" y="5341243"/>
            <a:ext cx="10868745" cy="624284"/>
          </a:xfrm>
          <a:prstGeom prst="roundRect">
            <a:avLst>
              <a:gd name="adj" fmla="val 25887"/>
            </a:avLst>
          </a:prstGeom>
          <a:solidFill>
            <a:srgbClr val="183A13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567263"/>
            <a:ext cx="224427" cy="17948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44867" y="5539581"/>
            <a:ext cx="10715456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Связь </a:t>
            </a: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«Один-ко-Многим» (1:N)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между таблицами garantирует ссылочную целостность данных.</a:t>
            </a:r>
            <a:endParaRPr lang="en-US" sz="1400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A5FA64AB-3DA8-5CFA-43B9-166049D4A6A1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7081"/>
            <a:ext cx="897044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ИТОГИ РАЗРАБОТКИ (ЗАКЛЮЧЕНИЕ)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9368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041624"/>
            <a:ext cx="10868745" cy="25400"/>
          </a:xfrm>
          <a:prstGeom prst="rect">
            <a:avLst/>
          </a:prstGeom>
          <a:solidFill>
            <a:srgbClr val="2C3A4C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186880"/>
            <a:ext cx="3965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ПРОЕКТИРОВАНИЕ АРХИТЕКТУРЫ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595563"/>
            <a:ext cx="1086874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Успешно разделены визуальная часть (GUI) и база данных по принципу разделения ответственности.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95538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1475" y="3467795"/>
            <a:ext cx="10868745" cy="25400"/>
          </a:xfrm>
          <a:prstGeom prst="rect">
            <a:avLst/>
          </a:prstGeom>
          <a:solidFill>
            <a:srgbClr val="4B5F76"/>
          </a:solidFill>
          <a:ln/>
        </p:spPr>
      </p:sp>
      <p:sp>
        <p:nvSpPr>
          <p:cNvPr id="9" name="Text 5"/>
          <p:cNvSpPr/>
          <p:nvPr/>
        </p:nvSpPr>
        <p:spPr>
          <a:xfrm>
            <a:off x="661475" y="3613051"/>
            <a:ext cx="35956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СОЗДАНИЕ ЛОКАЛЬНОЙ СУБД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61475" y="4021733"/>
            <a:ext cx="1086874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Настроена надёжная база данных на SQLite 3 со связанными таблицами и ссылочной целостностью.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621709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4893965"/>
            <a:ext cx="10868745" cy="25400"/>
          </a:xfrm>
          <a:prstGeom prst="rect">
            <a:avLst/>
          </a:prstGeom>
          <a:solidFill>
            <a:srgbClr val="8A9AA8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503922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ГОТОВЫЙ ПРОДУКТ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61475" y="5447903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Создано лёгкое, автономное приложение с нулевой задержкой, повышенной стабильностью и валидацией всех полей ввода.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4E5BDF-F61C-152D-0510-BE8EBD123E14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8165"/>
            <a:ext cx="10868745" cy="236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C6D1D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СПАСИБО ЗА ВНИМАНИЕ!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4408984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Буду рад ответить на ваши вопросы по проекту MoneyFlow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873625"/>
            <a:ext cx="1726760" cy="309860"/>
          </a:xfrm>
          <a:prstGeom prst="roundRect">
            <a:avLst>
              <a:gd name="adj" fmla="val 43921"/>
            </a:avLst>
          </a:prstGeom>
          <a:solidFill>
            <a:srgbClr val="C6D1D6"/>
          </a:solidFill>
          <a:ln/>
        </p:spPr>
      </p:sp>
      <p:sp>
        <p:nvSpPr>
          <p:cNvPr id="5" name="Text 3"/>
          <p:cNvSpPr/>
          <p:nvPr/>
        </p:nvSpPr>
        <p:spPr>
          <a:xfrm>
            <a:off x="774879" y="4930279"/>
            <a:ext cx="2109536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ШВЕДОВ ВАЛЕНТИН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82689" y="4867275"/>
            <a:ext cx="1587659" cy="322560"/>
          </a:xfrm>
          <a:prstGeom prst="roundRect">
            <a:avLst>
              <a:gd name="adj" fmla="val 42192"/>
            </a:avLst>
          </a:prstGeom>
          <a:noFill/>
          <a:ln w="6350">
            <a:solidFill>
              <a:srgbClr val="C6D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2443" y="4930279"/>
            <a:ext cx="1957735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1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ГРУППА: РПО 24/3</a:t>
            </a:r>
            <a:endParaRPr lang="en-US" sz="11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8AFC66C-E329-4497-F823-6AFD45B35588}"/>
              </a:ext>
            </a:extLst>
          </p:cNvPr>
          <p:cNvSpPr/>
          <p:nvPr/>
        </p:nvSpPr>
        <p:spPr>
          <a:xfrm>
            <a:off x="11092708" y="6401129"/>
            <a:ext cx="1041398" cy="397328"/>
          </a:xfrm>
          <a:prstGeom prst="rect">
            <a:avLst/>
          </a:prstGeom>
          <a:solidFill>
            <a:srgbClr val="08101F"/>
          </a:solidFill>
          <a:ln>
            <a:solidFill>
              <a:srgbClr val="081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13</cp:revision>
  <dcterms:created xsi:type="dcterms:W3CDTF">2026-06-06T17:33:42Z</dcterms:created>
  <dcterms:modified xsi:type="dcterms:W3CDTF">2026-06-06T17:37:06Z</dcterms:modified>
</cp:coreProperties>
</file>